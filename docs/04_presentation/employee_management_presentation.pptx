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8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287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scode.dev/github/n-kanematsu24/EmployeeManagement_NonnaKanematsu/blob/main/docs/01_db/ER_diagram.dio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employee_management_templates.xlsx" TargetMode="External"/><Relationship Id="rId5" Type="http://schemas.openxmlformats.org/officeDocument/2006/relationships/hyperlink" Target="https://vscode.dev/github/n-kanematsu24/EmployeeManagement_NonnaKanematsu/blob/main/docs/02_design/departmentRadister.dio" TargetMode="External"/><Relationship Id="rId4" Type="http://schemas.openxmlformats.org/officeDocument/2006/relationships/hyperlink" Target="https://vscode.dev/github/n-kanematsu24/EmployeeManagement_NonnaKanematsu/blob/main/docs/02_design/departmentClass.dio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0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0" y="23545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</a:p>
          <a:p>
            <a:r>
              <a:rPr lang="en-US" altLang="ja-JP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</a:p>
          <a:p>
            <a:r>
              <a:rPr lang="en-US" altLang="ja-JP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altLang="ja-JP" sz="3200" b="1" dirty="0"/>
          </a:p>
        </p:txBody>
      </p:sp>
      <p:sp>
        <p:nvSpPr>
          <p:cNvPr id="6" name="Text 4"/>
          <p:cNvSpPr/>
          <p:nvPr/>
        </p:nvSpPr>
        <p:spPr>
          <a:xfrm>
            <a:off x="594360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07070"/>
                </a:solidFill>
                <a:latin typeface="+mn-ea"/>
                <a:cs typeface="Calibri" pitchFamily="34" charset="-120"/>
              </a:rPr>
              <a:t>社員情報管理システム</a:t>
            </a:r>
            <a:endParaRPr lang="en-US" sz="1600" b="1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0" y="5532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kern="0" spc="2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兼松 暖奈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B8B5AB"/>
          </a:solidFill>
          <a:ln w="12700">
            <a:solidFill>
              <a:srgbClr val="B8B5AB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914400"/>
            <a:ext cx="18288" cy="5029200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ABA0AD0C-883C-7CA2-9079-FBA19BF446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9" r="1509"/>
          <a:stretch>
            <a:fillRect/>
          </a:stretch>
        </p:blipFill>
        <p:spPr>
          <a:xfrm rot="5400000">
            <a:off x="-777240" y="777240"/>
            <a:ext cx="6858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9521C907-3DF6-FFF0-4438-979D7EAB312F}"/>
              </a:ext>
            </a:extLst>
          </p:cNvPr>
          <p:cNvGrpSpPr/>
          <p:nvPr/>
        </p:nvGrpSpPr>
        <p:grpSpPr>
          <a:xfrm>
            <a:off x="0" y="502920"/>
            <a:ext cx="12161520" cy="502920"/>
            <a:chOff x="0" y="502920"/>
            <a:chExt cx="12161520" cy="502920"/>
          </a:xfrm>
        </p:grpSpPr>
        <p:sp>
          <p:nvSpPr>
            <p:cNvPr id="2" name="Text 0"/>
            <p:cNvSpPr/>
            <p:nvPr/>
          </p:nvSpPr>
          <p:spPr>
            <a:xfrm>
              <a:off x="0" y="502920"/>
              <a:ext cx="1216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EMPLOYEE MANAGEMENT SYSTEM</a:t>
              </a:r>
              <a:endParaRPr lang="en-US" sz="9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0" y="777240"/>
              <a:ext cx="12161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kern="0" spc="3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NONNA KANEMATSU</a:t>
              </a:r>
              <a:endParaRPr lang="en-US" sz="800" dirty="0"/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3A5D0F6-C532-8240-4633-1F43EEE1F105}"/>
              </a:ext>
            </a:extLst>
          </p:cNvPr>
          <p:cNvGrpSpPr/>
          <p:nvPr/>
        </p:nvGrpSpPr>
        <p:grpSpPr>
          <a:xfrm>
            <a:off x="0" y="1172718"/>
            <a:ext cx="12161520" cy="553212"/>
            <a:chOff x="0" y="1645920"/>
            <a:chExt cx="12161520" cy="553212"/>
          </a:xfrm>
        </p:grpSpPr>
        <p:sp>
          <p:nvSpPr>
            <p:cNvPr id="4" name="Text 2"/>
            <p:cNvSpPr/>
            <p:nvPr/>
          </p:nvSpPr>
          <p:spPr>
            <a:xfrm>
              <a:off x="0" y="1645920"/>
              <a:ext cx="1216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kern="0" spc="300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INDEX</a:t>
              </a:r>
              <a:endParaRPr lang="en-US" sz="18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40080" y="2194560"/>
              <a:ext cx="10881360" cy="4572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716A26B-CCA3-0323-367A-BEA240D4D0ED}"/>
              </a:ext>
            </a:extLst>
          </p:cNvPr>
          <p:cNvGrpSpPr/>
          <p:nvPr/>
        </p:nvGrpSpPr>
        <p:grpSpPr>
          <a:xfrm>
            <a:off x="0" y="2119122"/>
            <a:ext cx="12161520" cy="868680"/>
            <a:chOff x="0" y="2148840"/>
            <a:chExt cx="12161520" cy="868680"/>
          </a:xfrm>
        </p:grpSpPr>
        <p:sp>
          <p:nvSpPr>
            <p:cNvPr id="6" name="Text 4"/>
            <p:cNvSpPr/>
            <p:nvPr/>
          </p:nvSpPr>
          <p:spPr>
            <a:xfrm>
              <a:off x="0" y="2148840"/>
              <a:ext cx="12161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0" y="2441448"/>
              <a:ext cx="12161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システム概要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0" y="2743200"/>
              <a:ext cx="1216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P3  概要  /  P4  スケジュール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DB3F0BF-66BC-DDE4-FCB2-D0146BBB2CEB}"/>
              </a:ext>
            </a:extLst>
          </p:cNvPr>
          <p:cNvGrpSpPr/>
          <p:nvPr/>
        </p:nvGrpSpPr>
        <p:grpSpPr>
          <a:xfrm>
            <a:off x="0" y="3177540"/>
            <a:ext cx="12161520" cy="868680"/>
            <a:chOff x="0" y="3017520"/>
            <a:chExt cx="12161520" cy="868680"/>
          </a:xfrm>
        </p:grpSpPr>
        <p:sp>
          <p:nvSpPr>
            <p:cNvPr id="9" name="Text 7"/>
            <p:cNvSpPr/>
            <p:nvPr/>
          </p:nvSpPr>
          <p:spPr>
            <a:xfrm>
              <a:off x="0" y="3017520"/>
              <a:ext cx="12161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0" y="3310128"/>
              <a:ext cx="12161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設計と実装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0" y="3611880"/>
              <a:ext cx="1216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P5  設計  /  P6  機能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C51FA08-2CCE-5DA5-2384-B675B1C0935A}"/>
              </a:ext>
            </a:extLst>
          </p:cNvPr>
          <p:cNvGrpSpPr/>
          <p:nvPr/>
        </p:nvGrpSpPr>
        <p:grpSpPr>
          <a:xfrm>
            <a:off x="0" y="4110228"/>
            <a:ext cx="12161520" cy="868680"/>
            <a:chOff x="0" y="3886200"/>
            <a:chExt cx="12161520" cy="868680"/>
          </a:xfrm>
        </p:grpSpPr>
        <p:sp>
          <p:nvSpPr>
            <p:cNvPr id="12" name="Text 10"/>
            <p:cNvSpPr/>
            <p:nvPr/>
          </p:nvSpPr>
          <p:spPr>
            <a:xfrm>
              <a:off x="0" y="3886200"/>
              <a:ext cx="12161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0" y="4178808"/>
              <a:ext cx="12161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工夫と挑戦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0" y="4480560"/>
              <a:ext cx="1216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P7  工夫した点  /  P8  デモ  /  P9  苦労した点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0DBBB1B-1F77-B907-0EA3-6EC0B6A0DF99}"/>
              </a:ext>
            </a:extLst>
          </p:cNvPr>
          <p:cNvGrpSpPr/>
          <p:nvPr/>
        </p:nvGrpSpPr>
        <p:grpSpPr>
          <a:xfrm>
            <a:off x="0" y="5207508"/>
            <a:ext cx="12161520" cy="868680"/>
            <a:chOff x="0" y="4754880"/>
            <a:chExt cx="12161520" cy="868680"/>
          </a:xfrm>
        </p:grpSpPr>
        <p:sp>
          <p:nvSpPr>
            <p:cNvPr id="15" name="Text 13"/>
            <p:cNvSpPr/>
            <p:nvPr/>
          </p:nvSpPr>
          <p:spPr>
            <a:xfrm>
              <a:off x="0" y="4754880"/>
              <a:ext cx="12161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0" y="5047488"/>
              <a:ext cx="12161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さいごに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0" y="5349240"/>
              <a:ext cx="1216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P10 </a:t>
              </a:r>
              <a:r>
                <a:rPr lang="en-US" sz="1000" dirty="0" err="1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反省a点と成長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10881360" cy="45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03F18608-C486-962C-0D6F-89F2ECC85F9E}"/>
              </a:ext>
            </a:extLst>
          </p:cNvPr>
          <p:cNvGrpSpPr/>
          <p:nvPr/>
        </p:nvGrpSpPr>
        <p:grpSpPr>
          <a:xfrm>
            <a:off x="6723298" y="2283714"/>
            <a:ext cx="4297680" cy="2747772"/>
            <a:chOff x="6723298" y="2830068"/>
            <a:chExt cx="4297680" cy="2747772"/>
          </a:xfrm>
        </p:grpSpPr>
        <p:sp>
          <p:nvSpPr>
            <p:cNvPr id="13" name="Text 11"/>
            <p:cNvSpPr/>
            <p:nvPr/>
          </p:nvSpPr>
          <p:spPr>
            <a:xfrm>
              <a:off x="7225574" y="2830068"/>
              <a:ext cx="14630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10</a:t>
              </a:r>
              <a:endParaRPr lang="en-US" sz="4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277778" y="310896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実装機能数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6723298" y="3611880"/>
              <a:ext cx="41148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7225574" y="3749040"/>
              <a:ext cx="14630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12</a:t>
              </a:r>
              <a:endParaRPr lang="en-US" sz="4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277778" y="4027932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対応言語数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6723298" y="4617720"/>
              <a:ext cx="41148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7225574" y="4846320"/>
              <a:ext cx="14630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44</a:t>
              </a:r>
              <a:endParaRPr lang="en-US" sz="4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277778" y="512064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テスト成功数</a:t>
              </a:r>
              <a:endParaRPr lang="en-US" sz="1100" dirty="0">
                <a:latin typeface="+mn-ea"/>
              </a:endParaRPr>
            </a:p>
          </p:txBody>
        </p:sp>
      </p:grpSp>
      <p:sp>
        <p:nvSpPr>
          <p:cNvPr id="5" name="Text 3"/>
          <p:cNvSpPr/>
          <p:nvPr/>
        </p:nvSpPr>
        <p:spPr>
          <a:xfrm>
            <a:off x="1353902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2026.05.29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902" y="1691640"/>
            <a:ext cx="2972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システム概要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53902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+mn-ea"/>
                <a:cs typeface="Calibri" pitchFamily="34" charset="-120"/>
              </a:rPr>
              <a:t>社員情報と部門情報を一元管理する</a:t>
            </a:r>
            <a:endParaRPr lang="en-US" sz="120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53902" y="3035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+mn-ea"/>
                <a:cs typeface="Calibri" pitchFamily="34" charset="-120"/>
              </a:rPr>
              <a:t>Webアプリケーション。</a:t>
            </a:r>
            <a:endParaRPr lang="en-US" sz="12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53902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+mn-ea"/>
                <a:cs typeface="Calibri" pitchFamily="34" charset="-120"/>
              </a:rPr>
              <a:t>ASP.NET Core MVC で構築し、</a:t>
            </a:r>
            <a:endParaRPr lang="en-US" sz="12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53902" y="3950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+mn-ea"/>
                <a:cs typeface="Calibri" pitchFamily="34" charset="-120"/>
              </a:rPr>
              <a:t>認証付き CRUD に加え、</a:t>
            </a:r>
            <a:endParaRPr lang="en-US" sz="120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53902" y="424281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+mn-ea"/>
                <a:cs typeface="Calibri" pitchFamily="34" charset="-120"/>
              </a:rPr>
              <a:t>12言語の国際化、モバイル対応、</a:t>
            </a:r>
            <a:endParaRPr lang="en-US" sz="120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53902" y="45354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+mn-ea"/>
                <a:cs typeface="Calibri" pitchFamily="34" charset="-120"/>
              </a:rPr>
              <a:t>登録者追跡機能を組み込んだ。</a:t>
            </a:r>
            <a:endParaRPr lang="en-US" sz="1200" dirty="0">
              <a:latin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53902" y="5486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53902" y="5715000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 ·  ASP.NET Core MVC  ·  EF Core  ·  PostgreSQL  ·  MSTest</a:t>
            </a:r>
            <a:endParaRPr lang="en-US" sz="11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34BE03EB-D738-B747-7D96-19B54017D5A6}"/>
              </a:ext>
            </a:extLst>
          </p:cNvPr>
          <p:cNvSpPr/>
          <p:nvPr/>
        </p:nvSpPr>
        <p:spPr>
          <a:xfrm>
            <a:off x="9418320" y="6144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3 | システム概要</a:t>
            </a:r>
            <a:endParaRPr lang="en-US" sz="9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10881360" cy="45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9418320" y="6144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4 | システム概要</a:t>
            </a:r>
            <a:endParaRPr lang="en-US" sz="9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FA476CB-205E-E68E-0739-5229787983B4}"/>
              </a:ext>
            </a:extLst>
          </p:cNvPr>
          <p:cNvGrpSpPr/>
          <p:nvPr/>
        </p:nvGrpSpPr>
        <p:grpSpPr>
          <a:xfrm>
            <a:off x="1353902" y="1371600"/>
            <a:ext cx="7315200" cy="960120"/>
            <a:chOff x="1645920" y="1371600"/>
            <a:chExt cx="7315200" cy="960120"/>
          </a:xfrm>
        </p:grpSpPr>
        <p:sp>
          <p:nvSpPr>
            <p:cNvPr id="5" name="Text 3"/>
            <p:cNvSpPr/>
            <p:nvPr/>
          </p:nvSpPr>
          <p:spPr>
            <a:xfrm>
              <a:off x="1645920" y="137160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2026.05.01 — 2026.05.28</a:t>
              </a:r>
              <a:endParaRPr lang="en-US" sz="11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645920" y="1691640"/>
              <a:ext cx="7315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演習スケジュール</a:t>
              </a:r>
              <a:endParaRPr lang="en-US" sz="2800" dirty="0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A73107B-5728-7EF4-2D0B-23A994BC8640}"/>
              </a:ext>
            </a:extLst>
          </p:cNvPr>
          <p:cNvGrpSpPr/>
          <p:nvPr/>
        </p:nvGrpSpPr>
        <p:grpSpPr>
          <a:xfrm>
            <a:off x="1526760" y="2679954"/>
            <a:ext cx="11156516" cy="3022092"/>
            <a:chOff x="1526760" y="2743200"/>
            <a:chExt cx="11156516" cy="3022092"/>
          </a:xfrm>
        </p:grpSpPr>
        <p:sp>
          <p:nvSpPr>
            <p:cNvPr id="7" name="Text 5"/>
            <p:cNvSpPr/>
            <p:nvPr/>
          </p:nvSpPr>
          <p:spPr>
            <a:xfrm>
              <a:off x="2261235" y="2743200"/>
              <a:ext cx="1322333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1-19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321940" y="2743200"/>
              <a:ext cx="198349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Foundation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739676" y="2788920"/>
              <a:ext cx="429758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C# / ASP.NET 基礎学習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1526760" y="3200400"/>
              <a:ext cx="9108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2261235" y="338328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20-22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321940" y="338328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Design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739676" y="3429000"/>
              <a:ext cx="5943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ER図・クラス図・シーケンス図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2261235" y="402336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23-27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321940" y="402336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Build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739676" y="4069080"/>
              <a:ext cx="5943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CRUD・認証・多言語化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2261235" y="466344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27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21940" y="466344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Verify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739676" y="4709160"/>
              <a:ext cx="5943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MSTest 34件・手動確認 10件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1526760" y="5120640"/>
              <a:ext cx="9108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2261235" y="530352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28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321940" y="53035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Present</a:t>
              </a:r>
              <a:endParaRPr lang="en-US" sz="1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739676" y="5349240"/>
              <a:ext cx="5943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資料作成・デモ準備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1526760" y="5760720"/>
              <a:ext cx="9108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Shape 8">
              <a:extLst>
                <a:ext uri="{FF2B5EF4-FFF2-40B4-BE49-F238E27FC236}">
                  <a16:creationId xmlns:a16="http://schemas.microsoft.com/office/drawing/2014/main" id="{65099F54-47CC-E597-747A-89A6C9243392}"/>
                </a:ext>
              </a:extLst>
            </p:cNvPr>
            <p:cNvSpPr/>
            <p:nvPr/>
          </p:nvSpPr>
          <p:spPr>
            <a:xfrm>
              <a:off x="1526760" y="3858953"/>
              <a:ext cx="9108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016BBFC9-C32B-D8CC-127E-48A0D6713E3C}"/>
                </a:ext>
              </a:extLst>
            </p:cNvPr>
            <p:cNvSpPr/>
            <p:nvPr/>
          </p:nvSpPr>
          <p:spPr>
            <a:xfrm>
              <a:off x="1526760" y="4480560"/>
              <a:ext cx="9108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10881360" cy="45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E9B876D1-CFF7-46F1-2FF9-93A037EF106C}"/>
              </a:ext>
            </a:extLst>
          </p:cNvPr>
          <p:cNvGrpSpPr/>
          <p:nvPr/>
        </p:nvGrpSpPr>
        <p:grpSpPr>
          <a:xfrm>
            <a:off x="1353902" y="1417320"/>
            <a:ext cx="9966960" cy="2560320"/>
            <a:chOff x="1353902" y="1417320"/>
            <a:chExt cx="9966960" cy="2560320"/>
          </a:xfrm>
        </p:grpSpPr>
        <p:sp>
          <p:nvSpPr>
            <p:cNvPr id="5" name="Text 3"/>
            <p:cNvSpPr/>
            <p:nvPr/>
          </p:nvSpPr>
          <p:spPr>
            <a:xfrm>
              <a:off x="1353902" y="1417320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01</a:t>
              </a:r>
              <a:endParaRPr lang="en-US" sz="2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176862" y="1417320"/>
              <a:ext cx="91440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設計  「ドキュメント類」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353902" y="2331720"/>
              <a:ext cx="9144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今回</a:t>
              </a:r>
              <a:r>
                <a:rPr lang="en-US" sz="1200" dirty="0" err="1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の演習</a:t>
              </a:r>
              <a:r>
                <a:rPr lang="ja-JP" alt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にあたって作成</a:t>
              </a: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。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353902" y="2606040"/>
              <a:ext cx="9144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Webアプリケーションを設計するために、4種のドキュメントを作成した。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353902" y="2880360"/>
              <a:ext cx="9144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構想から仕様を固めるまで、約1週間。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353902" y="3383280"/>
              <a:ext cx="9144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関係性を視覚化することは、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353902" y="3657600"/>
              <a:ext cx="9144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実装の道筋を明らかにすること</a:t>
              </a:r>
              <a:r>
                <a:rPr lang="ja-JP" alt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である</a:t>
              </a: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。</a:t>
              </a:r>
              <a:endParaRPr lang="en-US" sz="1200" dirty="0">
                <a:latin typeface="+mn-ea"/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981BDE4-0415-CC53-733A-94A1BBF04007}"/>
              </a:ext>
            </a:extLst>
          </p:cNvPr>
          <p:cNvGrpSpPr/>
          <p:nvPr/>
        </p:nvGrpSpPr>
        <p:grpSpPr>
          <a:xfrm>
            <a:off x="1353902" y="4741164"/>
            <a:ext cx="2560320" cy="640080"/>
            <a:chOff x="640080" y="5120640"/>
            <a:chExt cx="2560320" cy="640080"/>
          </a:xfrm>
        </p:grpSpPr>
        <p:sp>
          <p:nvSpPr>
            <p:cNvPr id="12" name="Text 10"/>
            <p:cNvSpPr/>
            <p:nvPr/>
          </p:nvSpPr>
          <p:spPr>
            <a:xfrm>
              <a:off x="640080" y="512064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latin typeface="Cambria" pitchFamily="34" charset="0"/>
                  <a:ea typeface="Cambria" pitchFamily="34" charset="-122"/>
                  <a:cs typeface="Cambria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ER図</a:t>
              </a:r>
              <a:endParaRPr lang="en-US" sz="2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0080" y="54864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tables</a:t>
              </a:r>
              <a:endParaRPr lang="en-US" sz="1600" dirty="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ED9ADBD7-02DA-63D3-BAE9-545FCAEAFFCB}"/>
              </a:ext>
            </a:extLst>
          </p:cNvPr>
          <p:cNvGrpSpPr/>
          <p:nvPr/>
        </p:nvGrpSpPr>
        <p:grpSpPr>
          <a:xfrm>
            <a:off x="3740191" y="4741164"/>
            <a:ext cx="2560320" cy="640080"/>
            <a:chOff x="3383280" y="5120640"/>
            <a:chExt cx="2560320" cy="640080"/>
          </a:xfrm>
        </p:grpSpPr>
        <p:sp>
          <p:nvSpPr>
            <p:cNvPr id="14" name="Text 12"/>
            <p:cNvSpPr/>
            <p:nvPr/>
          </p:nvSpPr>
          <p:spPr>
            <a:xfrm>
              <a:off x="3383280" y="512064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latin typeface="Cambria" pitchFamily="34" charset="0"/>
                  <a:ea typeface="Cambria" pitchFamily="34" charset="-122"/>
                  <a:cs typeface="Cambria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クラス図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383280" y="54864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件</a:t>
              </a:r>
              <a:endParaRPr lang="en-US" sz="1600" dirty="0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0F517A5F-14F2-6338-76EB-2673933EBB85}"/>
              </a:ext>
            </a:extLst>
          </p:cNvPr>
          <p:cNvGrpSpPr/>
          <p:nvPr/>
        </p:nvGrpSpPr>
        <p:grpSpPr>
          <a:xfrm>
            <a:off x="6080760" y="4741164"/>
            <a:ext cx="2560320" cy="640080"/>
            <a:chOff x="6126480" y="5120640"/>
            <a:chExt cx="2560320" cy="640080"/>
          </a:xfrm>
        </p:grpSpPr>
        <p:sp>
          <p:nvSpPr>
            <p:cNvPr id="16" name="Text 14"/>
            <p:cNvSpPr/>
            <p:nvPr/>
          </p:nvSpPr>
          <p:spPr>
            <a:xfrm>
              <a:off x="6126480" y="512064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latin typeface="Cambria" pitchFamily="34" charset="0"/>
                  <a:ea typeface="Cambria" pitchFamily="34" charset="-122"/>
                  <a:cs typeface="Cambria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シーケンス図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126480" y="54864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 件 (正常系</a:t>
              </a:r>
              <a:r>
                <a:rPr lang="en-US" sz="1000" i="1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1000" dirty="0"/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122295C-1190-8695-20F1-8BC765349906}"/>
              </a:ext>
            </a:extLst>
          </p:cNvPr>
          <p:cNvGrpSpPr/>
          <p:nvPr/>
        </p:nvGrpSpPr>
        <p:grpSpPr>
          <a:xfrm>
            <a:off x="8760542" y="4741164"/>
            <a:ext cx="2560320" cy="640080"/>
            <a:chOff x="8869680" y="5120640"/>
            <a:chExt cx="2560320" cy="640080"/>
          </a:xfrm>
        </p:grpSpPr>
        <p:sp>
          <p:nvSpPr>
            <p:cNvPr id="18" name="Text 16"/>
            <p:cNvSpPr/>
            <p:nvPr/>
          </p:nvSpPr>
          <p:spPr>
            <a:xfrm>
              <a:off x="8869680" y="512064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latin typeface="Cambria" pitchFamily="34" charset="0"/>
                  <a:ea typeface="Cambria" pitchFamily="34" charset="-122"/>
                  <a:cs typeface="Cambria" pitchFamily="34" charset="-120"/>
                  <a:hlinkClick r:id="rId6" action="ppaction://hlinkfil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テーブル定義書</a:t>
              </a:r>
              <a:endParaRPr lang="en-US" sz="2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869680" y="54864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Excel</a:t>
              </a:r>
              <a:endParaRPr lang="en-US" sz="1600" dirty="0"/>
            </a:p>
          </p:txBody>
        </p:sp>
      </p:grpSp>
      <p:sp>
        <p:nvSpPr>
          <p:cNvPr id="24" name="Text 2">
            <a:extLst>
              <a:ext uri="{FF2B5EF4-FFF2-40B4-BE49-F238E27FC236}">
                <a16:creationId xmlns:a16="http://schemas.microsoft.com/office/drawing/2014/main" id="{B3238A8C-F4E9-5C94-2AD6-0F22FCFEB853}"/>
              </a:ext>
            </a:extLst>
          </p:cNvPr>
          <p:cNvSpPr/>
          <p:nvPr/>
        </p:nvSpPr>
        <p:spPr>
          <a:xfrm>
            <a:off x="9418320" y="6144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ja-JP" sz="900" dirty="0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5 | </a:t>
            </a:r>
            <a:r>
              <a:rPr lang="en-US" altLang="ja-JP" sz="900" dirty="0" err="1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設計と実装</a:t>
            </a:r>
            <a:endParaRPr lang="en-US" altLang="ja-JP" sz="9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7C5028D3-EB0A-929D-9023-8C794E6530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1966" y="2064749"/>
            <a:ext cx="2825936" cy="17862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10881360" cy="45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353902" y="1421943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76862" y="1417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実装  「機能一覧」</a:t>
            </a:r>
            <a:endParaRPr lang="en-US" sz="22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8D49AE47-65C0-5745-7F83-EC9E7120A1D7}"/>
              </a:ext>
            </a:extLst>
          </p:cNvPr>
          <p:cNvGrpSpPr/>
          <p:nvPr/>
        </p:nvGrpSpPr>
        <p:grpSpPr>
          <a:xfrm>
            <a:off x="1473300" y="2124439"/>
            <a:ext cx="10972800" cy="594360"/>
            <a:chOff x="1353902" y="2331720"/>
            <a:chExt cx="10972800" cy="594360"/>
          </a:xfrm>
        </p:grpSpPr>
        <p:sp>
          <p:nvSpPr>
            <p:cNvPr id="7" name="Text 5"/>
            <p:cNvSpPr/>
            <p:nvPr/>
          </p:nvSpPr>
          <p:spPr>
            <a:xfrm>
              <a:off x="1353902" y="2331720"/>
              <a:ext cx="9144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10種の機能を実装した。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353902" y="2606040"/>
              <a:ext cx="10972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社員・部門の管理、認証、登録者追跡、多言語対応、レスポンシブ</a:t>
              </a:r>
              <a:r>
                <a:rPr lang="ja-JP" alt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など</a:t>
              </a: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。</a:t>
              </a:r>
              <a:endParaRPr lang="en-US" sz="1200" dirty="0">
                <a:latin typeface="+mn-ea"/>
              </a:endParaRP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2CE3502C-533C-BD87-9508-FE1AB7BBEBD2}"/>
              </a:ext>
            </a:extLst>
          </p:cNvPr>
          <p:cNvGrpSpPr/>
          <p:nvPr/>
        </p:nvGrpSpPr>
        <p:grpSpPr>
          <a:xfrm>
            <a:off x="1102442" y="3037349"/>
            <a:ext cx="10418998" cy="2930652"/>
            <a:chOff x="1102442" y="3383280"/>
            <a:chExt cx="10418998" cy="2930652"/>
          </a:xfrm>
        </p:grpSpPr>
        <p:sp>
          <p:nvSpPr>
            <p:cNvPr id="9" name="Text 7"/>
            <p:cNvSpPr/>
            <p:nvPr/>
          </p:nvSpPr>
          <p:spPr>
            <a:xfrm>
              <a:off x="1102442" y="341071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691640" y="3383280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ログイン / ログアウト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691640" y="363931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admin &amp; DB 認証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1473300" y="393192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6263640" y="341071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812280" y="3383280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社員 CRUD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812280" y="363931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登録・一覧・詳細・更新・削除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573282" y="393192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1102442" y="400507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691640" y="3977640"/>
              <a:ext cx="4284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部門 CRUD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691640" y="423367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登録・一覧・詳細・更新・削除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1473300" y="452628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6263640" y="400507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04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812280" y="3977640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登録者管理</a:t>
              </a:r>
              <a:endParaRPr lang="en-US" sz="13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812280" y="423367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updated_id を自動記録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573282" y="452628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1102442" y="459943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05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691640" y="4578991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検索 / フィルタ / 並び替え</a:t>
              </a:r>
              <a:endParaRPr lang="en-US" sz="13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691640" y="482803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氏名・社員番号・部門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1473300" y="512064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6263640" y="459943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06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812280" y="4572000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画像アップロード</a:t>
              </a:r>
              <a:endParaRPr lang="en-US" sz="13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812280" y="482803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プロフィール画像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6573282" y="512064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1102442" y="519379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07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691640" y="5166360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多言語対応</a:t>
              </a:r>
              <a:endParaRPr lang="en-US" sz="13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691640" y="542239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12言語切替・Cookie 記憶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1473300" y="571500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6263640" y="519379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08</a:t>
              </a:r>
              <a:endParaRPr lang="en-US" sz="1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812280" y="5166360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モバイル対応</a:t>
              </a:r>
              <a:endParaRPr lang="en-US" sz="13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812280" y="542239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768px 以下でフッターナビ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6573282" y="571500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1102442" y="578815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09</a:t>
              </a:r>
              <a:endParaRPr lang="en-US" sz="12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1691640" y="5760720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共有機能</a:t>
              </a:r>
              <a:endParaRPr lang="en-US" sz="13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1693158" y="601675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Web Share API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1473300" y="630936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Text 43"/>
            <p:cNvSpPr/>
            <p:nvPr/>
          </p:nvSpPr>
          <p:spPr>
            <a:xfrm>
              <a:off x="6263640" y="5788152"/>
              <a:ext cx="502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10</a:t>
              </a:r>
              <a:endParaRPr lang="en-US" sz="12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6812280" y="5760720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論理削除</a:t>
              </a:r>
              <a:endParaRPr lang="en-US" sz="13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6812280" y="6016752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is_deleted で監査対応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6573282" y="6309360"/>
              <a:ext cx="414000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6" name="Text 2">
            <a:extLst>
              <a:ext uri="{FF2B5EF4-FFF2-40B4-BE49-F238E27FC236}">
                <a16:creationId xmlns:a16="http://schemas.microsoft.com/office/drawing/2014/main" id="{DE8D8E66-52FF-820F-2303-161157FE4916}"/>
              </a:ext>
            </a:extLst>
          </p:cNvPr>
          <p:cNvSpPr/>
          <p:nvPr/>
        </p:nvSpPr>
        <p:spPr>
          <a:xfrm>
            <a:off x="9418320" y="6144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ja-JP" sz="900" dirty="0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6 | </a:t>
            </a:r>
            <a:r>
              <a:rPr lang="en-US" altLang="ja-JP" sz="900" dirty="0" err="1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設計と実装</a:t>
            </a:r>
            <a:endParaRPr lang="en-US" altLang="ja-JP" sz="9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 HIGHLIGHTS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10881360" cy="45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FA5598A4-A3EE-82FE-508D-9AFFA12261A4}"/>
              </a:ext>
            </a:extLst>
          </p:cNvPr>
          <p:cNvGrpSpPr/>
          <p:nvPr/>
        </p:nvGrpSpPr>
        <p:grpSpPr>
          <a:xfrm>
            <a:off x="1353902" y="1417320"/>
            <a:ext cx="10972800" cy="1691640"/>
            <a:chOff x="640080" y="1417320"/>
            <a:chExt cx="10972800" cy="1691640"/>
          </a:xfrm>
        </p:grpSpPr>
        <p:sp>
          <p:nvSpPr>
            <p:cNvPr id="6" name="Text 4"/>
            <p:cNvSpPr/>
            <p:nvPr/>
          </p:nvSpPr>
          <p:spPr>
            <a:xfrm>
              <a:off x="1463040" y="1417320"/>
              <a:ext cx="91440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工夫した点</a:t>
              </a:r>
              <a:endParaRPr lang="en-US" sz="2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2743200"/>
              <a:ext cx="10972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1200" dirty="0"/>
                <a:t>画面のデザイン性、機能の利便性を追求した。</a:t>
              </a:r>
              <a:endParaRPr lang="en-US" sz="1200" dirty="0"/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B81F98A5-C4EC-854D-FB1A-1FAB8DB12EE1}"/>
              </a:ext>
            </a:extLst>
          </p:cNvPr>
          <p:cNvGrpSpPr/>
          <p:nvPr/>
        </p:nvGrpSpPr>
        <p:grpSpPr>
          <a:xfrm>
            <a:off x="1377499" y="3520440"/>
            <a:ext cx="9437001" cy="2537681"/>
            <a:chOff x="640080" y="3520440"/>
            <a:chExt cx="10881360" cy="2926080"/>
          </a:xfrm>
        </p:grpSpPr>
        <p:sp>
          <p:nvSpPr>
            <p:cNvPr id="9" name="Text 7"/>
            <p:cNvSpPr/>
            <p:nvPr/>
          </p:nvSpPr>
          <p:spPr>
            <a:xfrm>
              <a:off x="640080" y="3520440"/>
              <a:ext cx="548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①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0080" y="3886200"/>
              <a:ext cx="3444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Localization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40080" y="4160520"/>
              <a:ext cx="3444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12 ヶ国語対応</a:t>
              </a:r>
              <a:endParaRPr lang="en-US" sz="18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40080" y="4663440"/>
              <a:ext cx="320040" cy="914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640080" y="4800600"/>
              <a:ext cx="335280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リソースファイル(.resx)で UI ラベルを一元管理。</a:t>
              </a:r>
              <a:endParaRPr lang="en-US" sz="1200" dirty="0">
                <a:latin typeface="+mn-ea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社員名・部門名にも英語フィールドを設け、未設定時は日本語にフォールバック。Cookie で選択を記憶する。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358640" y="3520440"/>
              <a:ext cx="548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②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358640" y="3886200"/>
              <a:ext cx="3444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Responsive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358640" y="4160520"/>
              <a:ext cx="3444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モバイルファースト</a:t>
              </a:r>
              <a:endParaRPr lang="en-US" sz="1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358640" y="4663440"/>
              <a:ext cx="320040" cy="914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4358640" y="4800600"/>
              <a:ext cx="335280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768px以下でサイドバーをフッターナビへ自動切替。</a:t>
              </a:r>
              <a:endParaRPr lang="en-US" sz="1100" dirty="0">
                <a:latin typeface="+mn-ea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テーブルはカード形式に再構成、フォームは1カラムに。タッチ操作前提の余白とサイズで再設計した。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8077200" y="3520440"/>
              <a:ext cx="548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③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077200" y="3886200"/>
              <a:ext cx="3444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Craft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077200" y="4160520"/>
              <a:ext cx="3444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緻密なデザイン</a:t>
              </a:r>
              <a:endParaRPr lang="en-US" sz="1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8077200" y="4663440"/>
              <a:ext cx="320040" cy="914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8077200" y="4800599"/>
              <a:ext cx="3352800" cy="1645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  <a:latin typeface="+mn-ea"/>
                  <a:cs typeface="Calibri" pitchFamily="34" charset="-120"/>
                </a:rPr>
                <a:t>サイドバー、カード、トースト、パンくず、モーダル等を CSS 変数で一貫制御。色数を絞り、タイポと余白で階層を作る編集設計の考え方を適用した。</a:t>
              </a:r>
              <a:endParaRPr lang="en-US" sz="1200" dirty="0">
                <a:latin typeface="+mn-ea"/>
              </a:endParaRPr>
            </a:p>
          </p:txBody>
        </p:sp>
      </p:grpSp>
      <p:sp>
        <p:nvSpPr>
          <p:cNvPr id="36" name="Text 3">
            <a:extLst>
              <a:ext uri="{FF2B5EF4-FFF2-40B4-BE49-F238E27FC236}">
                <a16:creationId xmlns:a16="http://schemas.microsoft.com/office/drawing/2014/main" id="{E24CC28F-674E-56B7-24EA-27E3A9562523}"/>
              </a:ext>
            </a:extLst>
          </p:cNvPr>
          <p:cNvSpPr/>
          <p:nvPr/>
        </p:nvSpPr>
        <p:spPr>
          <a:xfrm>
            <a:off x="1353902" y="1421943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DBE9929F-CE43-771F-1965-DAEAEDFB18EB}"/>
              </a:ext>
            </a:extLst>
          </p:cNvPr>
          <p:cNvSpPr/>
          <p:nvPr/>
        </p:nvSpPr>
        <p:spPr>
          <a:xfrm>
            <a:off x="9418320" y="6144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ja-JP" sz="900" dirty="0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7 | </a:t>
            </a:r>
            <a:r>
              <a:rPr lang="en-US" altLang="ja-JP" sz="900" dirty="0" err="1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工夫と挑戦</a:t>
            </a:r>
            <a:endParaRPr lang="en-US" altLang="ja-JP" sz="9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6F248AFF-E594-B799-511B-FA469A3616EB}"/>
              </a:ext>
            </a:extLst>
          </p:cNvPr>
          <p:cNvGrpSpPr/>
          <p:nvPr/>
        </p:nvGrpSpPr>
        <p:grpSpPr>
          <a:xfrm>
            <a:off x="1280160" y="2107743"/>
            <a:ext cx="10698480" cy="457200"/>
            <a:chOff x="640080" y="2468880"/>
            <a:chExt cx="10698480" cy="457200"/>
          </a:xfrm>
        </p:grpSpPr>
        <p:sp>
          <p:nvSpPr>
            <p:cNvPr id="40" name="Shape 5">
              <a:extLst>
                <a:ext uri="{FF2B5EF4-FFF2-40B4-BE49-F238E27FC236}">
                  <a16:creationId xmlns:a16="http://schemas.microsoft.com/office/drawing/2014/main" id="{DDD44B86-6D6A-10DC-5950-532F5366C115}"/>
                </a:ext>
              </a:extLst>
            </p:cNvPr>
            <p:cNvSpPr/>
            <p:nvPr/>
          </p:nvSpPr>
          <p:spPr>
            <a:xfrm>
              <a:off x="640080" y="2468880"/>
              <a:ext cx="22860" cy="457200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5EE5DFC9-31A9-D360-817E-46A5FD2A8E50}"/>
                </a:ext>
              </a:extLst>
            </p:cNvPr>
            <p:cNvSpPr/>
            <p:nvPr/>
          </p:nvSpPr>
          <p:spPr>
            <a:xfrm>
              <a:off x="822960" y="2514600"/>
              <a:ext cx="10515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ja-JP" sz="1400" i="1" dirty="0" err="1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使う人のための、編集されたインターフェース</a:t>
              </a:r>
              <a:endParaRPr lang="en-US" altLang="ja-JP" sz="14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</a:t>
            </a:r>
            <a:r>
              <a:rPr lang="en-US" sz="900" b="1" kern="0" spc="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DEMONSTRATIONz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10881360" cy="45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3EF8CD0A-F59C-9905-4FC6-3256BA8731AE}"/>
              </a:ext>
            </a:extLst>
          </p:cNvPr>
          <p:cNvGrpSpPr/>
          <p:nvPr/>
        </p:nvGrpSpPr>
        <p:grpSpPr>
          <a:xfrm>
            <a:off x="1698318" y="1828800"/>
            <a:ext cx="1371600" cy="3474720"/>
            <a:chOff x="822960" y="1828800"/>
            <a:chExt cx="1371600" cy="3474720"/>
          </a:xfrm>
        </p:grpSpPr>
        <p:sp>
          <p:nvSpPr>
            <p:cNvPr id="5" name="Text 3"/>
            <p:cNvSpPr/>
            <p:nvPr/>
          </p:nvSpPr>
          <p:spPr>
            <a:xfrm>
              <a:off x="822960" y="1828800"/>
              <a:ext cx="13716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0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実</a:t>
              </a:r>
              <a:endParaRPr lang="en-US" sz="9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22960" y="3200400"/>
              <a:ext cx="13716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0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演</a:t>
              </a:r>
              <a:endParaRPr lang="en-US" sz="9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22960" y="475488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  デモ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22960" y="4983480"/>
              <a:ext cx="1371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i="1" dirty="0">
                  <a:latin typeface="Cambria" pitchFamily="34" charset="0"/>
                  <a:ea typeface="Cambria" pitchFamily="34" charset="-122"/>
                  <a:cs typeface="Cambria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Live Demo</a:t>
              </a:r>
              <a:endParaRPr lang="en-US" sz="1300" dirty="0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6D19CF6-C115-6D6C-9365-E478FAB4DE45}"/>
              </a:ext>
            </a:extLst>
          </p:cNvPr>
          <p:cNvGrpSpPr/>
          <p:nvPr/>
        </p:nvGrpSpPr>
        <p:grpSpPr>
          <a:xfrm>
            <a:off x="4489807" y="1920240"/>
            <a:ext cx="8046720" cy="3456432"/>
            <a:chOff x="3657600" y="1920240"/>
            <a:chExt cx="8046720" cy="3456432"/>
          </a:xfrm>
        </p:grpSpPr>
        <p:sp>
          <p:nvSpPr>
            <p:cNvPr id="9" name="Text 7"/>
            <p:cNvSpPr/>
            <p:nvPr/>
          </p:nvSpPr>
          <p:spPr>
            <a:xfrm>
              <a:off x="3657600" y="1920240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DEMO FLOW</a:t>
              </a:r>
              <a:endParaRPr lang="en-US" sz="9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657600" y="2286000"/>
              <a:ext cx="365760" cy="914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657600" y="2514600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343400" y="251460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ログイン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589520" y="2542032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admin / EMP001 で認証確認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657600" y="3017520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343400" y="301752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社員一覧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589520" y="3044952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検索・フィルタ・並び替え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657600" y="3520440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343400" y="352044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社員詳細・編集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589520" y="3547872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「最終更新者」が記録される様子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3657600" y="4023360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04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343400" y="402336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部門詳細</a:t>
              </a:r>
              <a:endParaRPr lang="en-US" sz="13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589520" y="4050792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所属メンバー一覧の遷移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3657600" y="4526280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05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343400" y="452628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言語切替</a:t>
              </a:r>
              <a:endParaRPr lang="en-US" sz="13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589520" y="4553712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日本語 → English → 한국어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3657600" y="5029200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0707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06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343400" y="502920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モバイル表示</a:t>
              </a:r>
              <a:endParaRPr lang="en-US" sz="13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589520" y="5056632"/>
              <a:ext cx="4114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768px 以下のレイアウト</a:t>
              </a:r>
              <a:endParaRPr lang="en-US" sz="1000" dirty="0">
                <a:latin typeface="+mn-ea"/>
              </a:endParaRPr>
            </a:p>
          </p:txBody>
        </p:sp>
      </p:grpSp>
      <p:sp>
        <p:nvSpPr>
          <p:cNvPr id="29" name="Text 2">
            <a:extLst>
              <a:ext uri="{FF2B5EF4-FFF2-40B4-BE49-F238E27FC236}">
                <a16:creationId xmlns:a16="http://schemas.microsoft.com/office/drawing/2014/main" id="{9A4463FE-84B3-CFDB-6553-985AEBE59027}"/>
              </a:ext>
            </a:extLst>
          </p:cNvPr>
          <p:cNvSpPr/>
          <p:nvPr/>
        </p:nvSpPr>
        <p:spPr>
          <a:xfrm>
            <a:off x="9418320" y="6144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ja-JP" sz="900" dirty="0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8 | </a:t>
            </a:r>
            <a:r>
              <a:rPr lang="en-US" altLang="ja-JP" sz="900" dirty="0" err="1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工夫と挑戦</a:t>
            </a:r>
            <a:endParaRPr lang="en-US" altLang="ja-JP" sz="9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10881360" cy="45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176862" y="1417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苦労した点と解決</a:t>
            </a:r>
            <a:endParaRPr lang="en-US" sz="2200" dirty="0"/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CB929E30-845D-848F-4A7B-52D5CE6D4F03}"/>
              </a:ext>
            </a:extLst>
          </p:cNvPr>
          <p:cNvGrpSpPr/>
          <p:nvPr/>
        </p:nvGrpSpPr>
        <p:grpSpPr>
          <a:xfrm>
            <a:off x="1280160" y="2107743"/>
            <a:ext cx="10698480" cy="457200"/>
            <a:chOff x="640080" y="2468880"/>
            <a:chExt cx="10698480" cy="457200"/>
          </a:xfrm>
        </p:grpSpPr>
        <p:sp>
          <p:nvSpPr>
            <p:cNvPr id="7" name="Shape 5"/>
            <p:cNvSpPr/>
            <p:nvPr/>
          </p:nvSpPr>
          <p:spPr>
            <a:xfrm>
              <a:off x="640080" y="2468880"/>
              <a:ext cx="22860" cy="457200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822960" y="2514600"/>
              <a:ext cx="10515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1400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少しのミスが大きな問題につながる。</a:t>
              </a:r>
              <a:endParaRPr lang="en-US" sz="1400" dirty="0"/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EA7F4A29-B44F-04ED-74F5-177C4A617B85}"/>
              </a:ext>
            </a:extLst>
          </p:cNvPr>
          <p:cNvGrpSpPr/>
          <p:nvPr/>
        </p:nvGrpSpPr>
        <p:grpSpPr>
          <a:xfrm>
            <a:off x="897742" y="2950953"/>
            <a:ext cx="10366036" cy="3066619"/>
            <a:chOff x="640080" y="3200400"/>
            <a:chExt cx="10972800" cy="3246120"/>
          </a:xfrm>
        </p:grpSpPr>
        <p:sp>
          <p:nvSpPr>
            <p:cNvPr id="9" name="Text 7"/>
            <p:cNvSpPr/>
            <p:nvPr/>
          </p:nvSpPr>
          <p:spPr>
            <a:xfrm>
              <a:off x="640080" y="3200400"/>
              <a:ext cx="640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①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320040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kern="0" spc="3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PROBLEM</a:t>
              </a:r>
              <a:endParaRPr lang="en-US" sz="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3429000"/>
              <a:ext cx="4846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PostgreSQL </a:t>
              </a:r>
              <a:r>
                <a:rPr lang="ja-JP" altLang="en-US" sz="1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　</a:t>
              </a:r>
              <a:r>
                <a:rPr lang="en-US" sz="1400" b="1" dirty="0" err="1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ホスト名</a:t>
              </a:r>
              <a:r>
                <a:rPr lang="ja-JP" altLang="en-US" sz="1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のミス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3794760"/>
              <a:ext cx="48463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WSL 環境で localhost ではなく Windows 側の IP (172.21.68.233) を指定する必要があった。原因特定に時間がかかった。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675120" y="320040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kern="0" spc="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8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675120" y="3474720"/>
              <a:ext cx="493776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  <a:latin typeface="+mn-ea"/>
                  <a:cs typeface="Cambria" pitchFamily="34" charset="-120"/>
                </a:rPr>
                <a:t>WSL の仕組み(別ネットワーク扱い)を理解。ipconfig で IP を確認して接続文字列に設定し、解決した。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640080" y="4704588"/>
              <a:ext cx="10881360" cy="4572"/>
            </a:xfrm>
            <a:prstGeom prst="rect">
              <a:avLst/>
            </a:prstGeom>
            <a:solidFill>
              <a:srgbClr val="D6D4CC"/>
            </a:solidFill>
            <a:ln w="12700">
              <a:solidFill>
                <a:srgbClr val="D6D4CC"/>
              </a:solidFill>
              <a:prstDash val="solid"/>
            </a:ln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40080" y="4892040"/>
              <a:ext cx="640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②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280160" y="489204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kern="0" spc="3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PROBLEM</a:t>
              </a:r>
              <a:endParaRPr lang="en-US" sz="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280160" y="5120640"/>
              <a:ext cx="4846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i18n リソースファイル設定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280160" y="5486400"/>
              <a:ext cx="48463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707070"/>
                  </a:solidFill>
                  <a:latin typeface="+mn-ea"/>
                  <a:cs typeface="Calibri" pitchFamily="34" charset="-120"/>
                </a:rPr>
                <a:t>ResourcesPath や名前空間の設定が複雑で、リソースが読み込まれず英語のキーがそのまま表示される問題に苦戦。</a:t>
              </a:r>
              <a:endParaRPr lang="en-US" sz="1200" dirty="0">
                <a:latin typeface="+mn-ea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6675120" y="489204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kern="0" spc="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8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675120" y="5166360"/>
              <a:ext cx="493776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  <a:latin typeface="+mn-ea"/>
                  <a:cs typeface="Cambria" pitchFamily="34" charset="-120"/>
                </a:rPr>
                <a:t>ResourcesPath を空文字に設定し、SharedResource.cs と .resx を同階層に配置。12言語の管理体制を構築した。</a:t>
              </a:r>
              <a:endParaRPr lang="en-US" sz="1200" dirty="0">
                <a:latin typeface="+mn-ea"/>
              </a:endParaRPr>
            </a:p>
          </p:txBody>
        </p:sp>
      </p:grpSp>
      <p:sp>
        <p:nvSpPr>
          <p:cNvPr id="27" name="Text 3">
            <a:extLst>
              <a:ext uri="{FF2B5EF4-FFF2-40B4-BE49-F238E27FC236}">
                <a16:creationId xmlns:a16="http://schemas.microsoft.com/office/drawing/2014/main" id="{DCA3AF60-DA20-2E93-0B15-CF9836855517}"/>
              </a:ext>
            </a:extLst>
          </p:cNvPr>
          <p:cNvSpPr/>
          <p:nvPr/>
        </p:nvSpPr>
        <p:spPr>
          <a:xfrm>
            <a:off x="1353902" y="1421943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07CB7773-C21A-7E4B-5658-5BCBE169CAC8}"/>
              </a:ext>
            </a:extLst>
          </p:cNvPr>
          <p:cNvSpPr/>
          <p:nvPr/>
        </p:nvSpPr>
        <p:spPr>
          <a:xfrm>
            <a:off x="9418320" y="6144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ja-JP" sz="900" dirty="0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9 | </a:t>
            </a:r>
            <a:r>
              <a:rPr lang="en-US" altLang="ja-JP" sz="900" dirty="0" err="1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工夫と挑戦</a:t>
            </a:r>
            <a:endParaRPr lang="en-US" altLang="ja-JP" sz="9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 &amp;  GROWTH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10881360" cy="45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176862" y="1417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さいごに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80160" y="2125980"/>
            <a:ext cx="228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463040" y="21717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時間配分と再利用性がこれからの課題</a:t>
            </a: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715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7070"/>
                </a:solidFill>
                <a:latin typeface="+mn-ea"/>
                <a:cs typeface="Calibri" pitchFamily="34" charset="-120"/>
              </a:rPr>
              <a:t>「動くこと」を優先するあまり、設計と保守性に振り向けるリソースが足りなかった。</a:t>
            </a:r>
            <a:endParaRPr lang="en-US" sz="1200" dirty="0">
              <a:latin typeface="+mn-ea"/>
            </a:endParaRP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6D9B6BB7-6A6F-2DDD-F2F3-537C04513268}"/>
              </a:ext>
            </a:extLst>
          </p:cNvPr>
          <p:cNvGrpSpPr/>
          <p:nvPr/>
        </p:nvGrpSpPr>
        <p:grpSpPr>
          <a:xfrm>
            <a:off x="1280160" y="3383280"/>
            <a:ext cx="10698480" cy="2212848"/>
            <a:chOff x="1280160" y="3566160"/>
            <a:chExt cx="10698480" cy="2212848"/>
          </a:xfrm>
        </p:grpSpPr>
        <p:sp>
          <p:nvSpPr>
            <p:cNvPr id="10" name="Text 8"/>
            <p:cNvSpPr/>
            <p:nvPr/>
          </p:nvSpPr>
          <p:spPr>
            <a:xfrm>
              <a:off x="1463040" y="3566160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2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REFLECTION  反省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280160" y="3858768"/>
              <a:ext cx="4140000" cy="914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728E13F2-10F1-EFAD-BB92-903B0B9BD278}"/>
                </a:ext>
              </a:extLst>
            </p:cNvPr>
            <p:cNvGrpSpPr/>
            <p:nvPr/>
          </p:nvGrpSpPr>
          <p:grpSpPr>
            <a:xfrm>
              <a:off x="1463040" y="4023360"/>
              <a:ext cx="5074920" cy="1664208"/>
              <a:chOff x="640080" y="4023360"/>
              <a:chExt cx="5074920" cy="1664208"/>
            </a:xfrm>
          </p:grpSpPr>
          <p:sp>
            <p:nvSpPr>
              <p:cNvPr id="12" name="Text 10"/>
              <p:cNvSpPr/>
              <p:nvPr/>
            </p:nvSpPr>
            <p:spPr>
              <a:xfrm>
                <a:off x="640080" y="4023360"/>
                <a:ext cx="45720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70707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①</a:t>
                </a:r>
                <a:endParaRPr lang="en-US" sz="12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143000" y="4023360"/>
                <a:ext cx="45720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1A1A1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Service 層が未実装</a:t>
                </a:r>
                <a:endParaRPr lang="en-US" sz="13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143000" y="4315968"/>
                <a:ext cx="4572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707070"/>
                    </a:solidFill>
                    <a:latin typeface="+mn-ea"/>
                    <a:cs typeface="Calibri" pitchFamily="34" charset="-120"/>
                  </a:rPr>
                  <a:t>層構成のスコープを最初に固めるべきだった。</a:t>
                </a:r>
                <a:endParaRPr lang="en-US" sz="1050" dirty="0">
                  <a:latin typeface="+mn-ea"/>
                </a:endParaRPr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640080" y="4937760"/>
                <a:ext cx="45720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i="1" dirty="0">
                    <a:solidFill>
                      <a:srgbClr val="70707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②</a:t>
                </a:r>
                <a:endParaRPr lang="en-US" sz="12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1143000" y="4937760"/>
                <a:ext cx="45720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1A1A1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テストヘルパーの重複</a:t>
                </a:r>
                <a:endParaRPr lang="en-US" sz="13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1143000" y="5230368"/>
                <a:ext cx="4572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707070"/>
                    </a:solidFill>
                    <a:latin typeface="+mn-ea"/>
                    <a:cs typeface="Calibri" pitchFamily="34" charset="-120"/>
                  </a:rPr>
                  <a:t>TestHelpers に共通化して再利用性を高めるべきだった。</a:t>
                </a:r>
                <a:endParaRPr lang="en-US" sz="1050" dirty="0">
                  <a:latin typeface="+mn-ea"/>
                </a:endParaRPr>
              </a:p>
            </p:txBody>
          </p:sp>
        </p:grpSp>
        <p:sp>
          <p:nvSpPr>
            <p:cNvPr id="18" name="Text 16"/>
            <p:cNvSpPr/>
            <p:nvPr/>
          </p:nvSpPr>
          <p:spPr>
            <a:xfrm>
              <a:off x="6949440" y="3566160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200" dirty="0">
                  <a:solidFill>
                    <a:srgbClr val="707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GROWTH  成長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771842" y="3858768"/>
              <a:ext cx="4140000" cy="914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1C935F5C-CB52-B3AB-3DC4-8F6E9D20F24E}"/>
                </a:ext>
              </a:extLst>
            </p:cNvPr>
            <p:cNvGrpSpPr/>
            <p:nvPr/>
          </p:nvGrpSpPr>
          <p:grpSpPr>
            <a:xfrm>
              <a:off x="6949440" y="4023360"/>
              <a:ext cx="5029200" cy="1755648"/>
              <a:chOff x="6400800" y="4023360"/>
              <a:chExt cx="5029200" cy="1755648"/>
            </a:xfrm>
          </p:grpSpPr>
          <p:sp>
            <p:nvSpPr>
              <p:cNvPr id="20" name="Text 18"/>
              <p:cNvSpPr/>
              <p:nvPr/>
            </p:nvSpPr>
            <p:spPr>
              <a:xfrm>
                <a:off x="6400800" y="4023360"/>
                <a:ext cx="4572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i="1" dirty="0">
                    <a:solidFill>
                      <a:srgbClr val="70707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①</a:t>
                </a:r>
                <a:endParaRPr lang="en-US" sz="110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6858000" y="4023360"/>
                <a:ext cx="45720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A1A1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DB 設計</a:t>
                </a:r>
                <a:endParaRPr lang="en-US" sz="120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6858000" y="4279392"/>
                <a:ext cx="45720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707070"/>
                    </a:solidFill>
                    <a:latin typeface="+mn-ea"/>
                    <a:cs typeface="Calibri" pitchFamily="34" charset="-120"/>
                  </a:rPr>
                  <a:t>ER 図・正規化・論理削除・自己参照まで実例として理解。</a:t>
                </a:r>
                <a:endParaRPr lang="en-US" sz="1050" dirty="0">
                  <a:latin typeface="+mn-ea"/>
                </a:endParaRPr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6400800" y="4626864"/>
                <a:ext cx="4572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i="1" dirty="0">
                    <a:solidFill>
                      <a:srgbClr val="70707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②</a:t>
                </a:r>
                <a:endParaRPr lang="en-US" sz="11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6858000" y="4626864"/>
                <a:ext cx="45720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A1A1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EF Core</a:t>
                </a:r>
                <a:endParaRPr lang="en-US" sz="12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6858000" y="4882896"/>
                <a:ext cx="45720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707070"/>
                    </a:solidFill>
                    <a:latin typeface="+mn-ea"/>
                    <a:cs typeface="Calibri" pitchFamily="34" charset="-120"/>
                  </a:rPr>
                  <a:t>Include による JOIN、LINQ 操作、InMemory DB テストまで実践。</a:t>
                </a:r>
                <a:endParaRPr lang="en-US" sz="1050" dirty="0">
                  <a:latin typeface="+mn-ea"/>
                </a:endParaRPr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6400800" y="5230368"/>
                <a:ext cx="4572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i="1" dirty="0">
                    <a:solidFill>
                      <a:srgbClr val="70707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③</a:t>
                </a:r>
                <a:endParaRPr lang="en-US" sz="110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6858000" y="5230368"/>
                <a:ext cx="45720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A1A1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Web 開発全工程</a:t>
                </a:r>
                <a:endParaRPr lang="en-US" sz="120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6858000" y="5486400"/>
                <a:ext cx="45720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707070"/>
                    </a:solidFill>
                    <a:latin typeface="+mn-ea"/>
                    <a:cs typeface="Calibri" pitchFamily="34" charset="-120"/>
                  </a:rPr>
                  <a:t>要件分析から発表準備まで一人で経験、繋がりが見えた。</a:t>
                </a:r>
                <a:endParaRPr lang="en-US" sz="1050" dirty="0">
                  <a:latin typeface="+mn-ea"/>
                </a:endParaRPr>
              </a:p>
            </p:txBody>
          </p:sp>
        </p:grpSp>
      </p:grpSp>
      <p:sp>
        <p:nvSpPr>
          <p:cNvPr id="29" name="Shape 27"/>
          <p:cNvSpPr/>
          <p:nvPr/>
        </p:nvSpPr>
        <p:spPr>
          <a:xfrm>
            <a:off x="640080" y="5943600"/>
            <a:ext cx="10881360" cy="45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12192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ご覧いただき、ありがとうございました</a:t>
            </a:r>
            <a:r>
              <a:rPr lang="en-US" sz="13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。</a:t>
            </a:r>
            <a:endParaRPr lang="en-US" sz="13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8B64BA37-9A12-4ED4-A106-A659549A2A3A}"/>
              </a:ext>
            </a:extLst>
          </p:cNvPr>
          <p:cNvSpPr/>
          <p:nvPr/>
        </p:nvSpPr>
        <p:spPr>
          <a:xfrm>
            <a:off x="1353902" y="1421943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415A33EE-5612-5AC4-35C4-FBD0D65E3E6E}"/>
              </a:ext>
            </a:extLst>
          </p:cNvPr>
          <p:cNvSpPr/>
          <p:nvPr/>
        </p:nvSpPr>
        <p:spPr>
          <a:xfrm>
            <a:off x="9418320" y="6144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ja-JP" sz="900" dirty="0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10 | </a:t>
            </a:r>
            <a:r>
              <a:rPr lang="ja-JP" altLang="en-US" sz="900" dirty="0">
                <a:solidFill>
                  <a:srgbClr val="1A1A1A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Calibri" pitchFamily="34" charset="-120"/>
              </a:rPr>
              <a:t>さいごに</a:t>
            </a:r>
            <a:endParaRPr lang="en-US" altLang="ja-JP" sz="9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B5FAA087-D17C-8CA2-B7D2-8302E3370A61}"/>
              </a:ext>
            </a:extLst>
          </p:cNvPr>
          <p:cNvSpPr txBox="1"/>
          <p:nvPr/>
        </p:nvSpPr>
        <p:spPr>
          <a:xfrm>
            <a:off x="3048856" y="324690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http://localhost:5170/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581</Words>
  <Application>Microsoft Office PowerPoint</Application>
  <PresentationFormat>ワイド画面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BIZ UDP明朝 Medium</vt:lpstr>
      <vt:lpstr>Arial</vt:lpstr>
      <vt:lpstr>Calibri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社員情報管理システム</dc:title>
  <dc:subject>PptxGenJS Presentation</dc:subject>
  <dc:creator>Nonna Kanematsu</dc:creator>
  <cp:lastModifiedBy>兼松 暖奈</cp:lastModifiedBy>
  <cp:revision>5</cp:revision>
  <dcterms:created xsi:type="dcterms:W3CDTF">2026-05-28T00:21:45Z</dcterms:created>
  <dcterms:modified xsi:type="dcterms:W3CDTF">2026-05-28T07:06:16Z</dcterms:modified>
</cp:coreProperties>
</file>